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THE EDGE  ·  BACKTESTED MAY 2022 THROUGH AUGUST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Our picks double at </a:t>
            </a:r>
            <a:r>
              <a:rPr sz="3000" i="1">
                <a:solidFill>
                  <a:srgbClr val="5FAAC5"/>
                </a:solidFill>
                <a:latin typeface="Georgia"/>
              </a:rPr>
              <a:t>11× the rate of random stock picking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501487" cy="22860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6B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RANDOM STOCK FROM THE RUSSELL 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86140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EDECE6"/>
                </a:solidFill>
                <a:latin typeface="Georgia"/>
              </a:rPr>
              <a:t>1 in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9BA1B9"/>
                </a:solidFill>
                <a:latin typeface="Helvetica Neue"/>
              </a:rPr>
              <a:t>chance of doubling over the next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96512"/>
            <a:ext cx="4861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382"/>
                </a:solidFill>
                <a:latin typeface="Helvetica Neue"/>
              </a:rPr>
              <a:t>4.95% base rate across 22,218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94560"/>
            <a:ext cx="5501487" cy="22860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219456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230428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TOP 20 PICKS FROM OUR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788920"/>
            <a:ext cx="4861407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6EE7B7"/>
                </a:solidFill>
                <a:latin typeface="Georgia"/>
              </a:rPr>
              <a:t>11 in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79476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9BA1B9"/>
                </a:solidFill>
                <a:latin typeface="Helvetica Neue"/>
              </a:rPr>
              <a:t>doubled in the following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096512"/>
            <a:ext cx="48614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382"/>
                </a:solidFill>
                <a:latin typeface="Helvetica Neue"/>
              </a:rPr>
              <a:t>55.0% realized rate on top-ranked picks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09160"/>
            <a:ext cx="3576218" cy="15544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3576218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18888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WORKS ACROSS EVERY COMPANY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6EE7B7"/>
                </a:solidFill>
                <a:latin typeface="Georgia"/>
              </a:rPr>
              <a:t>8.45×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BA1B9"/>
                </a:solidFill>
                <a:latin typeface="Helvetica Neue"/>
              </a:rPr>
              <a:t>Across the smallest to largest
Russell 3000 market-cap buckets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4709160"/>
            <a:ext cx="3576218" cy="15544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7738" y="4709160"/>
            <a:ext cx="3576218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7738" y="4818888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TESTED ON UNSEEN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7778" y="53035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6EE7B7"/>
                </a:solidFill>
                <a:latin typeface="Georgia"/>
              </a:rPr>
              <a:t>68% doubled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7778" y="58521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BA1B9"/>
                </a:solidFill>
                <a:latin typeface="Helvetica Neue"/>
              </a:rPr>
              <a:t>Out-of-Sample (OOS) 2024 test:
the signal strengthened, not weakened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8276" y="4709160"/>
            <a:ext cx="3576218" cy="15544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8276" y="4709160"/>
            <a:ext cx="3576218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8276" y="4818888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BEATS SIMPLE RULES BY 5×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8316" y="5303520"/>
            <a:ext cx="293613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6EE7B7"/>
                </a:solidFill>
                <a:latin typeface="Georgia"/>
              </a:rPr>
              <a:t>11.1× vs 2.0×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8316" y="58521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BA1B9"/>
                </a:solidFill>
                <a:latin typeface="Helvetica Neue"/>
              </a:rPr>
              <a:t>Our model's lift vs the best
hand-crafted rule we tried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382"/>
                </a:solidFill>
                <a:latin typeface="Helvetica Neue"/>
              </a:rPr>
              <a:t>Every pick logged publicly for live verification at s-tool.io/track-record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000" i="0">
                <a:solidFill>
                  <a:srgbClr val="EDECE6"/>
                </a:solidFill>
                <a:latin typeface="Georgia"/>
              </a:rPr>
              <a:t>The model rebuilds itself </a:t>
            </a:r>
            <a:r>
              <a:rPr sz="3000" i="1">
                <a:solidFill>
                  <a:srgbClr val="5FAAC5"/>
                </a:solidFill>
                <a:latin typeface="Georgia"/>
              </a:rPr>
              <a:t>every night</a:t>
            </a:r>
            <a:r>
              <a:rPr sz="30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13583" cy="457200"/>
          </a:xfrm>
          <a:prstGeom prst="roundRect">
            <a:avLst>
              <a:gd name="adj" fmla="val 18000"/>
            </a:avLst>
          </a:prstGeom>
          <a:solidFill>
            <a:srgbClr val="5FAA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26135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WIDE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97350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DECE6"/>
                </a:solidFill>
                <a:latin typeface="Georgia"/>
              </a:rPr>
              <a:t>~3,000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97350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The Russell 3000 — the broadest US stock index. We rank the whole market, never cherry-pick.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5103" y="219456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45103" y="2194560"/>
            <a:ext cx="2613583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5103" y="2304288"/>
            <a:ext cx="26135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RICH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2743200"/>
            <a:ext cx="197350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DECE6"/>
                </a:solidFill>
                <a:latin typeface="Georgia"/>
              </a:rPr>
              <a:t>Public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5143" y="3566160"/>
            <a:ext cx="197350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Prices, SEC filings, analyst estimates, and macroeconomic indicators from the Federal Reserve.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19456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F5D5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2194560"/>
            <a:ext cx="2613583" cy="457200"/>
          </a:xfrm>
          <a:prstGeom prst="roundRect">
            <a:avLst>
              <a:gd name="adj" fmla="val 18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304288"/>
            <a:ext cx="26135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2743200"/>
            <a:ext cx="197350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DECE6"/>
                </a:solidFill>
                <a:latin typeface="Georgia"/>
              </a:rPr>
              <a:t>Trained 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566160"/>
            <a:ext cx="197350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A machine-learning model learns which combinations of signals preceded real +100% moves in the past.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2194560"/>
            <a:ext cx="2613583" cy="320040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D2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0911" y="2194560"/>
            <a:ext cx="2613583" cy="457200"/>
          </a:xfrm>
          <a:prstGeom prst="roundRect">
            <a:avLst>
              <a:gd name="adj" fmla="val 18000"/>
            </a:avLst>
          </a:prstGeom>
          <a:solidFill>
            <a:srgbClr val="D2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0911" y="2304288"/>
            <a:ext cx="261358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DAILY RETRAIN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0951" y="2743200"/>
            <a:ext cx="197350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EDECE6"/>
                </a:solidFill>
                <a:latin typeface="Georgia"/>
              </a:rPr>
              <a:t>Under 24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0951" y="3566160"/>
            <a:ext cx="1973503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9BA1B9"/>
                </a:solidFill>
                <a:latin typeface="Helvetica Neue"/>
              </a:rPr>
              <a:t>Every night the model sees yesterday's real market prints. No static algorithm decaying in a drawer.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23560"/>
            <a:ext cx="11277295" cy="77724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THE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7103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ECE6"/>
                </a:solidFill>
                <a:latin typeface="Helvetica Neue"/>
              </a:rPr>
              <a:t>yesterday's market prints  →  realized outcomes  →  model updates  →  today's ranked picks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FAAC5"/>
                </a:solidFill>
                <a:latin typeface="Helvetica Neue"/>
              </a:rPr>
              <a:t>WHERE THE CAPITAL GOES  ·  2026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i="0">
                <a:solidFill>
                  <a:srgbClr val="EDECE6"/>
                </a:solidFill>
                <a:latin typeface="Georgia"/>
              </a:rPr>
              <a:t>Real edge. Honest surface. </a:t>
            </a:r>
            <a:r>
              <a:rPr sz="2800" i="1">
                <a:solidFill>
                  <a:srgbClr val="5FAAC5"/>
                </a:solidFill>
                <a:latin typeface="Georgia"/>
              </a:rPr>
              <a:t>Infrastructure built for scale</a:t>
            </a:r>
            <a:r>
              <a:rPr sz="2800" i="0">
                <a:solidFill>
                  <a:srgbClr val="EDECE6"/>
                </a:solidFill>
                <a:latin typeface="Georgi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PRICING  ·  LIVE TODAY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834640"/>
          <a:ext cx="4861407" cy="147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61007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6B7382"/>
                          </a:solidFill>
                          <a:latin typeface="Helvetica Neue"/>
                        </a:rPr>
                        <a:t>Tier</a:t>
                      </a:r>
                    </a:p>
                  </a:txBody>
                  <a:tcPr marL="137160" marR="137160" marT="54864" marB="54864" anchor="ctr">
                    <a:solidFill>
                      <a:srgbClr val="1F27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6B7382"/>
                          </a:solidFill>
                          <a:latin typeface="Helvetica Neue"/>
                        </a:rPr>
                        <a:t>What you get</a:t>
                      </a:r>
                    </a:p>
                  </a:txBody>
                  <a:tcPr marL="137160" marR="137160" marT="54864" marB="54864" anchor="ctr">
                    <a:solidFill>
                      <a:srgbClr val="1F27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6B7382"/>
                          </a:solidFill>
                          <a:latin typeface="Helvetica Neue"/>
                        </a:rPr>
                        <a:t>Price</a:t>
                      </a:r>
                    </a:p>
                  </a:txBody>
                  <a:tcPr marL="137160" marR="137160" marT="54864" marB="54864" anchor="ctr">
                    <a:solidFill>
                      <a:srgbClr val="1F2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DECE6"/>
                          </a:solidFill>
                          <a:latin typeface="Helvetica Neue"/>
                        </a:rPr>
                        <a:t>Free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BA1B9"/>
                          </a:solidFill>
                          <a:latin typeface="Helvetica Neue"/>
                        </a:rPr>
                        <a:t>3 projections per day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Free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DECE6"/>
                          </a:solidFill>
                          <a:latin typeface="Helvetica Neue"/>
                        </a:rPr>
                        <a:t>Pro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BA1B9"/>
                          </a:solidFill>
                          <a:latin typeface="Helvetica Neue"/>
                        </a:rPr>
                        <a:t>10 projections per day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$8 / month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DECE6"/>
                          </a:solidFill>
                          <a:latin typeface="Helvetica Neue"/>
                        </a:rPr>
                        <a:t>Strategist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BA1B9"/>
                          </a:solidFill>
                          <a:latin typeface="Helvetica Neue"/>
                        </a:rPr>
                        <a:t>Full ranked list of picks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$29 / month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33007" y="228600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A1F1B"/>
          </a:solidFill>
          <a:ln w="9525">
            <a:solidFill>
              <a:srgbClr val="5FAA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5FAA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239572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UNIT ECONOMICS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53047" y="2880360"/>
          <a:ext cx="4861407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2607"/>
                <a:gridCol w="182880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BA1B9"/>
                          </a:solidFill>
                          <a:latin typeface="Helvetica Neue"/>
                        </a:rPr>
                        <a:t>Infrastructure cost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Under $50 / month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BA1B9"/>
                          </a:solidFill>
                          <a:latin typeface="Helvetica Neue"/>
                        </a:rPr>
                        <a:t>Cost per additional user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Near zero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BA1B9"/>
                          </a:solidFill>
                          <a:latin typeface="Helvetica Neue"/>
                        </a:rPr>
                        <a:t>Gross margin at scale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95% or higher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9BA1B9"/>
                          </a:solidFill>
                          <a:latin typeface="Helvetica Neue"/>
                        </a:rPr>
                        <a:t>Capacity without rebuilding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EE7B7"/>
                          </a:solidFill>
                          <a:latin typeface="Helvetica Neue"/>
                        </a:rPr>
                        <a:t>10,000+ users</a:t>
                      </a:r>
                    </a:p>
                  </a:txBody>
                  <a:tcPr marL="137160" marR="137160" marT="54864" marB="54864" anchor="ctr">
                    <a:solidFill>
                      <a:srgbClr val="1A1F1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4572000"/>
            <a:ext cx="5501487" cy="17830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8172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NEXT 90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Public live scoreboard — weekly realized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0639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Options-market signals and earnings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9214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Short-interest history as a capital-commitment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7789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Twelve-month portfolio simulator for prospects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572000"/>
            <a:ext cx="5501487" cy="1783080"/>
          </a:xfrm>
          <a:prstGeom prst="roundRect">
            <a:avLst>
              <a:gd name="adj" fmla="val 4000"/>
            </a:avLst>
          </a:prstGeom>
          <a:solidFill>
            <a:srgbClr val="1F2722"/>
          </a:solidFill>
          <a:ln w="9525">
            <a:solidFill>
              <a:srgbClr val="6B73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4572000"/>
            <a:ext cx="5501487" cy="457200"/>
          </a:xfrm>
          <a:prstGeom prst="roundRect">
            <a:avLst>
              <a:gd name="adj" fmla="val 18000"/>
            </a:avLst>
          </a:prstGeom>
          <a:solidFill>
            <a:srgbClr val="F5D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4681728"/>
            <a:ext cx="55014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B1006"/>
                </a:solidFill>
                <a:latin typeface="Helvetica Neue"/>
              </a:rPr>
              <a:t>WHAT WE 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512064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Past performance never guarantees the future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540639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Regime shifts kill signals — we monitor and retire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69214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Fully systematic, by design — no human overlay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5977890"/>
            <a:ext cx="486140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DECE6"/>
                </a:solidFill>
                <a:latin typeface="Helvetica Neue"/>
              </a:rPr>
              <a:t>•  Dependent on public US market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1615" y="656539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38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