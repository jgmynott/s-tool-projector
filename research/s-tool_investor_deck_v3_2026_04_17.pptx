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FAAC5"/>
                </a:solidFill>
                <a:latin typeface="Helvetica Neue"/>
              </a:rPr>
              <a:t>THE EDGE  ·  BACKTESTED MAY 2022 THROUGH AUGUST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i="0">
                <a:solidFill>
                  <a:srgbClr val="EDECE6"/>
                </a:solidFill>
                <a:latin typeface="Georgia"/>
              </a:rPr>
              <a:t>Our picks double at </a:t>
            </a:r>
            <a:r>
              <a:rPr sz="3000" i="1">
                <a:solidFill>
                  <a:srgbClr val="5FAAC5"/>
                </a:solidFill>
                <a:latin typeface="Georgia"/>
              </a:rPr>
              <a:t>11× the rate of random stock picking</a:t>
            </a:r>
            <a:r>
              <a:rPr sz="3000" i="0">
                <a:solidFill>
                  <a:srgbClr val="EDECE6"/>
                </a:solidFill>
                <a:latin typeface="Georgia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5501487" cy="233172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6B73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9BA1B9"/>
                </a:solidFill>
                <a:latin typeface="Helvetica Neue"/>
              </a:rPr>
              <a:t>RANDOM STOCK FROM THE RUSSELL 3000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4952847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5800" b="1" i="0">
                <a:solidFill>
                  <a:srgbClr val="EDECE6"/>
                </a:solidFill>
                <a:latin typeface="Georgia"/>
              </a:rPr>
              <a:t>1 in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495284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1">
                <a:solidFill>
                  <a:srgbClr val="9BA1B9"/>
                </a:solidFill>
                <a:latin typeface="Helvetica Neue"/>
              </a:rPr>
              <a:t>chance of doubling over the next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79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B7382"/>
                </a:solidFill>
                <a:latin typeface="Helvetica Neue"/>
              </a:rPr>
              <a:t>(~4.95% base rate from 22,218 observations)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103120"/>
            <a:ext cx="5501487" cy="233172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331720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6EE7B7"/>
                </a:solidFill>
                <a:latin typeface="Helvetica Neue"/>
              </a:rPr>
              <a:t>TOP 20 PICKS FROM OUR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743200"/>
            <a:ext cx="4952847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5800" b="1" i="0">
                <a:solidFill>
                  <a:srgbClr val="6EE7B7"/>
                </a:solidFill>
                <a:latin typeface="Georgia"/>
              </a:rPr>
              <a:t>11 in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3703320"/>
            <a:ext cx="495284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1">
                <a:solidFill>
                  <a:srgbClr val="9BA1B9"/>
                </a:solidFill>
                <a:latin typeface="Helvetica Neue"/>
              </a:rPr>
              <a:t>doubled in the following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4069079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B7382"/>
                </a:solidFill>
                <a:latin typeface="Helvetica Neue"/>
              </a:rPr>
              <a:t>(55.0% realized rate on top-ranked picks)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63440"/>
            <a:ext cx="11277295" cy="1554480"/>
          </a:xfrm>
          <a:prstGeom prst="roundRect">
            <a:avLst>
              <a:gd name="adj" fmla="val 4000"/>
            </a:avLst>
          </a:prstGeom>
          <a:solidFill>
            <a:srgbClr val="1F2722"/>
          </a:solidFill>
          <a:ln w="9525">
            <a:solidFill>
              <a:srgbClr val="F5D5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5D58F"/>
                </a:solidFill>
                <a:latin typeface="Helvetica Neue"/>
              </a:rPr>
              <a:t>AND THESE ARE THE HONEST CHECKS  ·  NO CHERRY-PICKING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66359"/>
            <a:ext cx="357621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BA1B9"/>
                </a:solidFill>
                <a:latin typeface="Helvetica Neue"/>
              </a:rPr>
              <a:t>Works across every company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40679"/>
            <a:ext cx="357621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6EE7B7"/>
                </a:solidFill>
                <a:latin typeface="Georgia"/>
              </a:rPr>
              <a:t>8.45×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52159"/>
            <a:ext cx="357621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382"/>
                </a:solidFill>
                <a:latin typeface="Helvetica Neue"/>
              </a:rPr>
              <a:t>From the smallest to largest 20%
of Russell 3000 companies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7738" y="5166359"/>
            <a:ext cx="357621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BA1B9"/>
                </a:solidFill>
                <a:latin typeface="Helvetica Neue"/>
              </a:rPr>
              <a:t>Tested on market data the model never saw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7738" y="5440679"/>
            <a:ext cx="357621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6EE7B7"/>
                </a:solidFill>
                <a:latin typeface="Georgia"/>
              </a:rPr>
              <a:t>68% doubled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7738" y="5852159"/>
            <a:ext cx="357621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382"/>
                </a:solidFill>
                <a:latin typeface="Helvetica Neue"/>
              </a:rPr>
              <a:t>On 2024 out-of-sample (OOS) data — the
signal strengthened, not weakened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3956" y="5166359"/>
            <a:ext cx="357621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BA1B9"/>
                </a:solidFill>
                <a:latin typeface="Helvetica Neue"/>
              </a:rPr>
              <a:t>Beats simple rules by 5×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3956" y="5440679"/>
            <a:ext cx="357621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6EE7B7"/>
                </a:solidFill>
                <a:latin typeface="Georgia"/>
              </a:rPr>
              <a:t>11.1× vs 2.0×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3956" y="5852159"/>
            <a:ext cx="357621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382"/>
                </a:solidFill>
                <a:latin typeface="Helvetica Neue"/>
              </a:rPr>
              <a:t>Our model's lift vs the best
hand-crafted rule we tried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7382"/>
                </a:solidFill>
                <a:latin typeface="Helvetica Neue"/>
              </a:rPr>
              <a:t>Every pick is logged publicly for live verification at s-tool.io/track-record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51615" y="65653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82"/>
                </a:solidFill>
                <a:latin typeface="Helvetica Neu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FAAC5"/>
                </a:solidFill>
                <a:latin typeface="Helvetica Neue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i="0">
                <a:solidFill>
                  <a:srgbClr val="EDECE6"/>
                </a:solidFill>
                <a:latin typeface="Georgia"/>
              </a:rPr>
              <a:t>The model rebuilds itself </a:t>
            </a:r>
            <a:r>
              <a:rPr sz="3000" i="1">
                <a:solidFill>
                  <a:srgbClr val="5FAAC5"/>
                </a:solidFill>
                <a:latin typeface="Georgia"/>
              </a:rPr>
              <a:t>every night</a:t>
            </a:r>
            <a:r>
              <a:rPr sz="3000" i="0">
                <a:solidFill>
                  <a:srgbClr val="EDECE6"/>
                </a:solidFill>
                <a:latin typeface="Georgia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613583" cy="310896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5FA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613583" cy="457200"/>
          </a:xfrm>
          <a:prstGeom prst="roundRect">
            <a:avLst>
              <a:gd name="adj" fmla="val 20000"/>
            </a:avLst>
          </a:prstGeom>
          <a:solidFill>
            <a:srgbClr val="5FAA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261358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B1006"/>
                </a:solidFill>
                <a:latin typeface="Helvetica Neue"/>
              </a:rPr>
              <a:t>WIDE UNIVERSE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2247823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EDECE6"/>
                </a:solidFill>
                <a:latin typeface="Georgia"/>
              </a:rPr>
              <a:t>~3,000 companies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156383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9BA1B9"/>
                </a:solidFill>
                <a:latin typeface="Helvetica Neue"/>
              </a:rPr>
              <a:t>The Russell 3000 — the broadest US stock index. We don't cherry-pick; we rank the whole market.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5103" y="2103120"/>
            <a:ext cx="2613583" cy="310896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45103" y="2103120"/>
            <a:ext cx="2613583" cy="457200"/>
          </a:xfrm>
          <a:prstGeom prst="roundRect">
            <a:avLst>
              <a:gd name="adj" fmla="val 2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5103" y="2194560"/>
            <a:ext cx="261358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B1006"/>
                </a:solidFill>
                <a:latin typeface="Helvetica Neue"/>
              </a:rPr>
              <a:t>RICH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3" y="2788920"/>
            <a:ext cx="2247823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EDECE6"/>
                </a:solidFill>
                <a:latin typeface="Georgia"/>
              </a:rPr>
              <a:t>Public data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3703" y="3474720"/>
            <a:ext cx="2156383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9BA1B9"/>
                </a:solidFill>
                <a:latin typeface="Helvetica Neue"/>
              </a:rPr>
              <a:t>Prices, earnings filings with the SEC, analyst estimates, and macroeconomic indicators from the Fed.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2103120"/>
            <a:ext cx="2613583" cy="310896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F5D5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613583" cy="457200"/>
          </a:xfrm>
          <a:prstGeom prst="roundRect">
            <a:avLst>
              <a:gd name="adj" fmla="val 20000"/>
            </a:avLst>
          </a:prstGeom>
          <a:solidFill>
            <a:srgbClr val="F5D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3007" y="2194560"/>
            <a:ext cx="261358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B1006"/>
                </a:solidFill>
                <a:latin typeface="Helvetica Neue"/>
              </a:rPr>
              <a:t>MACHINE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2788920"/>
            <a:ext cx="2247823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EDECE6"/>
                </a:solidFill>
                <a:latin typeface="Georgia"/>
              </a:rPr>
              <a:t>Trained on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474720"/>
            <a:ext cx="2156383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9BA1B9"/>
                </a:solidFill>
                <a:latin typeface="Helvetica Neue"/>
              </a:rPr>
              <a:t>A machine-learning model learns which combinations of signals preceded real 100%+ moves in the past.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20911" y="2103120"/>
            <a:ext cx="2613583" cy="310896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D2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20911" y="2103120"/>
            <a:ext cx="2613583" cy="457200"/>
          </a:xfrm>
          <a:prstGeom prst="roundRect">
            <a:avLst>
              <a:gd name="adj" fmla="val 20000"/>
            </a:avLst>
          </a:prstGeom>
          <a:solidFill>
            <a:srgbClr val="D2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20911" y="2194560"/>
            <a:ext cx="261358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B1006"/>
                </a:solidFill>
                <a:latin typeface="Helvetica Neue"/>
              </a:rPr>
              <a:t>DAILY RETRAIN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3791" y="2788920"/>
            <a:ext cx="2247823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EDECE6"/>
                </a:solidFill>
                <a:latin typeface="Georgia"/>
              </a:rPr>
              <a:t>Under 24 hours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9511" y="3474720"/>
            <a:ext cx="2156383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9BA1B9"/>
                </a:solidFill>
                <a:latin typeface="Helvetica Neue"/>
              </a:rPr>
              <a:t>Every night the model sees yesterday's real market prints and updates. No static algorithm decaying in a drawer.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486400"/>
            <a:ext cx="11277295" cy="731520"/>
          </a:xfrm>
          <a:prstGeom prst="roundRect">
            <a:avLst>
              <a:gd name="adj" fmla="val 4000"/>
            </a:avLst>
          </a:prstGeom>
          <a:solidFill>
            <a:srgbClr val="1F2722"/>
          </a:solidFill>
          <a:ln w="9525">
            <a:solidFill>
              <a:srgbClr val="5FA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596128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5FAAC5"/>
                </a:solidFill>
                <a:latin typeface="Helvetica Neue"/>
              </a:rPr>
              <a:t>THE FEEDBACK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521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DECE6"/>
                </a:solidFill>
                <a:latin typeface="Helvetica Neue"/>
              </a:rPr>
              <a:t>yesterday's market prints  →  realized outcomes  →  model updates  →  today's ranked picks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51615" y="65653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82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FAAC5"/>
                </a:solidFill>
                <a:latin typeface="Helvetica Neue"/>
              </a:rPr>
              <a:t>WHERE THE CAPITAL GOES  ·  2026 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i="0">
                <a:solidFill>
                  <a:srgbClr val="EDECE6"/>
                </a:solidFill>
                <a:latin typeface="Georgia"/>
              </a:rPr>
              <a:t>Real edge. Honest surface. </a:t>
            </a:r>
            <a:r>
              <a:rPr sz="3000" i="1">
                <a:solidFill>
                  <a:srgbClr val="5FAAC5"/>
                </a:solidFill>
                <a:latin typeface="Georgia"/>
              </a:rPr>
              <a:t>Infrastructure built for scale</a:t>
            </a:r>
            <a:r>
              <a:rPr sz="3000" i="0">
                <a:solidFill>
                  <a:srgbClr val="EDECE6"/>
                </a:solidFill>
                <a:latin typeface="Georgia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5501487" cy="219456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EE7B7"/>
                </a:solidFill>
                <a:latin typeface="Helvetica Neue"/>
              </a:rPr>
              <a:t>PRICING  ·  LIVE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79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382"/>
                </a:solidFill>
                <a:latin typeface="Helvetica Neue"/>
              </a:rPr>
              <a:t>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69747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382"/>
                </a:solidFill>
                <a:latin typeface="Helvetica Neue"/>
              </a:rPr>
              <a:t>WHAT YOU 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4207" y="2697479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B7382"/>
                </a:solidFill>
                <a:latin typeface="Helvetica Neue"/>
              </a:rPr>
              <a:t>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EDECE6"/>
                </a:solidFill>
                <a:latin typeface="Helvetica Neue"/>
              </a:rPr>
              <a:t>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017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BA1B9"/>
                </a:solidFill>
                <a:latin typeface="Helvetica Neue"/>
              </a:rPr>
              <a:t>3 projections per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4207" y="3017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6EE7B7"/>
                </a:solidFill>
                <a:latin typeface="Georgia"/>
              </a:rPr>
              <a:t>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015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EDECE6"/>
                </a:solidFill>
                <a:latin typeface="Helvetica Neue"/>
              </a:rPr>
              <a:t>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4015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BA1B9"/>
                </a:solidFill>
                <a:latin typeface="Helvetica Neue"/>
              </a:rPr>
              <a:t>10 projections per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4207" y="34015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6EE7B7"/>
                </a:solidFill>
                <a:latin typeface="Georgia"/>
              </a:rPr>
              <a:t>$8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85615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EDECE6"/>
                </a:solidFill>
                <a:latin typeface="Helvetica Neue"/>
              </a:rPr>
              <a:t>Strategist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785615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BA1B9"/>
                </a:solidFill>
                <a:latin typeface="Helvetica Neue"/>
              </a:rPr>
              <a:t>Full ranked list of picks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4207" y="3785615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6EE7B7"/>
                </a:solidFill>
                <a:latin typeface="Georgia"/>
              </a:rPr>
              <a:t>$29 / mo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2103120"/>
            <a:ext cx="5501487" cy="219456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5FA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2286000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5FAAC5"/>
                </a:solidFill>
                <a:latin typeface="Helvetica Neue"/>
              </a:rPr>
              <a:t>UNIT ECONOMICS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8767" y="2788920"/>
            <a:ext cx="330692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BA1B9"/>
                </a:solidFill>
                <a:latin typeface="Helvetica Neue"/>
              </a:rPr>
              <a:t>Infrastructure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2815" y="27889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6EE7B7"/>
                </a:solidFill>
                <a:latin typeface="Georgia"/>
              </a:rPr>
              <a:t>Under $50 / 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8767" y="3172968"/>
            <a:ext cx="330692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BA1B9"/>
                </a:solidFill>
                <a:latin typeface="Helvetica Neue"/>
              </a:rPr>
              <a:t>Cost per additional 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2815" y="317296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6EE7B7"/>
                </a:solidFill>
                <a:latin typeface="Georgia"/>
              </a:rPr>
              <a:t>Near zero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8767" y="3557015"/>
            <a:ext cx="330692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BA1B9"/>
                </a:solidFill>
                <a:latin typeface="Helvetica Neue"/>
              </a:rPr>
              <a:t>Gross margin at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2815" y="3557015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6EE7B7"/>
                </a:solidFill>
                <a:latin typeface="Georgia"/>
              </a:rPr>
              <a:t>95%+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8767" y="3941063"/>
            <a:ext cx="330692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BA1B9"/>
                </a:solidFill>
                <a:latin typeface="Helvetica Neue"/>
              </a:rPr>
              <a:t>Capacity without rebuilding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2815" y="3941063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6EE7B7"/>
                </a:solidFill>
                <a:latin typeface="Georgia"/>
              </a:rPr>
              <a:t>10,000+ users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480560"/>
            <a:ext cx="5501487" cy="1874519"/>
          </a:xfrm>
          <a:prstGeom prst="roundRect">
            <a:avLst>
              <a:gd name="adj" fmla="val 4000"/>
            </a:avLst>
          </a:prstGeom>
          <a:solidFill>
            <a:srgbClr val="1F2722"/>
          </a:solidFill>
          <a:ln w="9525">
            <a:solidFill>
              <a:srgbClr val="6B73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617720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5D58F"/>
                </a:solidFill>
                <a:latin typeface="Helvetica Neue"/>
              </a:rPr>
              <a:t>NEXT 90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983480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— Public live scoreboard — weekly realized returns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276088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— Options-market signals and earnings calendar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568696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— Short-interest history as a capital-commitment signal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861304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— 12-month portfolio simulator for prospects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3007" y="4480560"/>
            <a:ext cx="5501487" cy="1874519"/>
          </a:xfrm>
          <a:prstGeom prst="roundRect">
            <a:avLst>
              <a:gd name="adj" fmla="val 4000"/>
            </a:avLst>
          </a:prstGeom>
          <a:solidFill>
            <a:srgbClr val="1F2722"/>
          </a:solidFill>
          <a:ln w="9525">
            <a:solidFill>
              <a:srgbClr val="6B73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07327" y="4617720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5D58F"/>
                </a:solidFill>
                <a:latin typeface="Helvetica Neue"/>
              </a:rPr>
              <a:t>WHAT WE WATCH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98767" y="4983480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BA1B9"/>
                </a:solidFill>
                <a:latin typeface="Helvetica Neue"/>
              </a:rPr>
              <a:t>— Past performance never guarantees the future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98767" y="5276088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BA1B9"/>
                </a:solidFill>
                <a:latin typeface="Helvetica Neue"/>
              </a:rPr>
              <a:t>— Regime shifts kill signals — we monitor and retire them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98767" y="5568696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BA1B9"/>
                </a:solidFill>
                <a:latin typeface="Helvetica Neue"/>
              </a:rPr>
              <a:t>— Fully systematic (no gut-feel overlay, by design)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98767" y="5861304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BA1B9"/>
                </a:solidFill>
                <a:latin typeface="Helvetica Neue"/>
              </a:rPr>
              <a:t>— Dependent on public US market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51615" y="65653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82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