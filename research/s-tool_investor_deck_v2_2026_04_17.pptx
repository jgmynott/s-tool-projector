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THE EDGE  ·  BACKTEST 2022-05 → 2024-08  ·  10 WALK-FORWARD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i="0">
                <a:solidFill>
                  <a:srgbClr val="EDECE6"/>
                </a:solidFill>
                <a:latin typeface="Georgia"/>
              </a:rPr>
              <a:t>Our ranker picks </a:t>
            </a:r>
            <a:r>
              <a:rPr sz="3000" i="1">
                <a:solidFill>
                  <a:srgbClr val="5FAAC5"/>
                </a:solidFill>
                <a:latin typeface="Georgia"/>
              </a:rPr>
              <a:t>+100% movers at 11×</a:t>
            </a:r>
            <a:r>
              <a:rPr sz="3000" i="0">
                <a:solidFill>
                  <a:srgbClr val="EDECE6"/>
                </a:solidFill>
                <a:latin typeface="Georgia"/>
              </a:rPr>
              <a:t> the Russell 3000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5501487" cy="214884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6B73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UNIVERSE BASELINE · RANDOM TICKER, 1Y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 Neue"/>
              </a:rPr>
              <a:t>+10%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788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 Neue"/>
              </a:rPr>
              <a:t>45.4%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3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 Neue"/>
              </a:rPr>
              <a:t>+25%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0632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 Neue"/>
              </a:rPr>
              <a:t>30.2%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 Neue"/>
              </a:rPr>
              <a:t>+50%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337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 Neue"/>
              </a:rPr>
              <a:t>14.9%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1187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 Neue"/>
              </a:rPr>
              <a:t>+100%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61187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 Neue"/>
              </a:rPr>
              <a:t>4.95%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1B9"/>
                </a:solidFill>
                <a:latin typeface="Helvetica Neue"/>
              </a:rPr>
              <a:t>+200%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886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 Neue"/>
              </a:rPr>
              <a:t>1.45%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2148840"/>
            <a:ext cx="5501487" cy="214884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233172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OUR NN SCORER · TOP-20 PICKS /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8767" y="2788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 Neue"/>
              </a:rPr>
              <a:t>Hit rate at +100%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6287" y="2788920"/>
            <a:ext cx="18438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6EE7B7"/>
                </a:solidFill>
                <a:latin typeface="Georgia"/>
              </a:rPr>
              <a:t>55.0%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306323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 Neue"/>
              </a:rPr>
              <a:t>Lift vs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6287" y="3063239"/>
            <a:ext cx="18438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6EE7B7"/>
                </a:solidFill>
                <a:latin typeface="Georgia"/>
              </a:rPr>
              <a:t>11.11×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8767" y="3337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 Neue"/>
              </a:rPr>
              <a:t>Mean 1Y 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6287" y="3337560"/>
            <a:ext cx="18438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6EE7B7"/>
                </a:solidFill>
                <a:latin typeface="Georgia"/>
              </a:rPr>
              <a:t>+327%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8767" y="361187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 Neue"/>
              </a:rPr>
              <a:t>Median 1Y 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6287" y="3611879"/>
            <a:ext cx="18438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6EE7B7"/>
                </a:solidFill>
                <a:latin typeface="Georgia"/>
              </a:rPr>
              <a:t>+115%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8767" y="3886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 Neue"/>
              </a:rPr>
              <a:t>Hand-crafted baseline 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6287" y="3886200"/>
            <a:ext cx="18438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6EE7B7"/>
                </a:solidFill>
                <a:latin typeface="Georgia"/>
              </a:rPr>
              <a:t>2.02×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572000"/>
            <a:ext cx="11277295" cy="1417320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F5D5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5D58F"/>
                </a:solidFill>
                <a:latin typeface="Helvetica Neue"/>
              </a:rPr>
              <a:t>HONEST METRICS  ·  SIZE-NEUTRAL  ·  OUT-OF-SAMPLE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26821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6EE7B7"/>
                </a:solidFill>
                <a:latin typeface="Georgia"/>
              </a:rPr>
              <a:t>43.5%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23560"/>
            <a:ext cx="26821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 Neue"/>
              </a:rPr>
              <a:t>Size-neutral hit_100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3683" y="5029200"/>
            <a:ext cx="26821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6EE7B7"/>
                </a:solidFill>
                <a:latin typeface="Georgia"/>
              </a:rPr>
              <a:t>8.45×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3683" y="5623560"/>
            <a:ext cx="26821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 Neue"/>
              </a:rPr>
              <a:t>Within-quintile lift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5847" y="5029200"/>
            <a:ext cx="26821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6EE7B7"/>
                </a:solidFill>
                <a:latin typeface="Georgia"/>
              </a:rPr>
              <a:t>68.3%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5847" y="5623560"/>
            <a:ext cx="26821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 Neue"/>
              </a:rPr>
              <a:t>2024 OOS hit_100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011" y="5029200"/>
            <a:ext cx="26821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6EE7B7"/>
                </a:solidFill>
                <a:latin typeface="Georgia"/>
              </a:rPr>
              <a:t>13.03×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011" y="5623560"/>
            <a:ext cx="26821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 Neue"/>
              </a:rPr>
              <a:t>2024 OOS lift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382"/>
                </a:solidFill>
                <a:latin typeface="Helvetica Neue"/>
              </a:rPr>
              <a:t>22,218 ticker-window rows  ·  Russell 3000 universe  ·  every pick logged for live 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51615" y="65653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2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ARCHITECTURE  ·  NIGHTLY END-TO-END LEARNING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i="0">
                <a:solidFill>
                  <a:srgbClr val="EDECE6"/>
                </a:solidFill>
                <a:latin typeface="Georgia"/>
              </a:rPr>
              <a:t>The model retrains </a:t>
            </a:r>
            <a:r>
              <a:rPr sz="3000" i="1">
                <a:solidFill>
                  <a:srgbClr val="5FAAC5"/>
                </a:solidFill>
                <a:latin typeface="Georgia"/>
              </a:rPr>
              <a:t>every night</a:t>
            </a:r>
            <a:r>
              <a:rPr sz="3000" i="0">
                <a:solidFill>
                  <a:srgbClr val="EDECE6"/>
                </a:solidFill>
                <a:latin typeface="Georgia"/>
              </a:rPr>
              <a:t> on freshly realised returns.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2613583" cy="320040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2613583" cy="411480"/>
          </a:xfrm>
          <a:prstGeom prst="roundRect">
            <a:avLst>
              <a:gd name="adj" fmla="val 20000"/>
            </a:avLst>
          </a:prstGeom>
          <a:solidFill>
            <a:srgbClr val="5FAA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B1006"/>
                </a:solidFill>
                <a:latin typeface="Helvetica Neue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Russell 3000 universe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2,609 price histories (5y)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1,947 SEC filings · 98k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Analyst consensus + 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Macro regime · 6 indicators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5103" y="2240280"/>
            <a:ext cx="2613583" cy="320040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45103" y="2240280"/>
            <a:ext cx="2613583" cy="411480"/>
          </a:xfrm>
          <a:prstGeom prst="roundRect">
            <a:avLst>
              <a:gd name="adj" fmla="val 2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5103" y="2304288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B1006"/>
                </a:solidFill>
                <a:latin typeface="Helvetica Neue"/>
              </a:rPr>
              <a:t>COMPUTE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983" y="283464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MC + mean-reversion blend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983" y="333756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Tree-ensemble NN scorer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983" y="384048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Walk-forward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983" y="434340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Size-neutral bucketing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484632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Liquidity floor enforced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2240280"/>
            <a:ext cx="2613583" cy="320040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F5D5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2240280"/>
            <a:ext cx="2613583" cy="411480"/>
          </a:xfrm>
          <a:prstGeom prst="roundRect">
            <a:avLst>
              <a:gd name="adj" fmla="val 20000"/>
            </a:avLst>
          </a:prstGeom>
          <a:solidFill>
            <a:srgbClr val="F5D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3007" y="2304288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B1006"/>
                </a:solidFill>
                <a:latin typeface="Helvetica Neue"/>
              </a:rPr>
              <a:t>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283464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Cloudflare edge — 15KB 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333756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FastAPI · Clerk · Stripe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384048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Railway Volume for users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887" y="434340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Gated Strategist 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5887" y="484632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/track-record is public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0911" y="2240280"/>
            <a:ext cx="2613583" cy="320040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D2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20911" y="2240280"/>
            <a:ext cx="2613583" cy="411480"/>
          </a:xfrm>
          <a:prstGeom prst="roundRect">
            <a:avLst>
              <a:gd name="adj" fmla="val 20000"/>
            </a:avLst>
          </a:prstGeom>
          <a:solidFill>
            <a:srgbClr val="D2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20911" y="2304288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B1006"/>
                </a:solidFill>
                <a:latin typeface="Helvetica Neue"/>
              </a:rPr>
              <a:t>CI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3791" y="283464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20:00 UTC · preferred scan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3791" y="333756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23:00 UTC · NN retrain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3791" y="384048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Nightly artifact deploys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3791" y="434340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Every pick into ledger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3791" y="4846320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· Cache warm across runs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669280"/>
            <a:ext cx="11277295" cy="548640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80644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5FAAC5"/>
                </a:solidFill>
                <a:latin typeface="Helvetica Neue"/>
              </a:rPr>
              <a:t>today's prints  →  realisation join  →  walk-forward retrain  →  fresh ranking  →  tomorrow's picks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51615" y="65653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2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WHERE CAPITAL GOES  ·  2026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i="0">
                <a:solidFill>
                  <a:srgbClr val="EDECE6"/>
                </a:solidFill>
                <a:latin typeface="Georgia"/>
              </a:rPr>
              <a:t>Real edge. Honest surface. Infra ready for </a:t>
            </a:r>
            <a:r>
              <a:rPr sz="3000" i="1">
                <a:solidFill>
                  <a:srgbClr val="5FAAC5"/>
                </a:solidFill>
                <a:latin typeface="Georgia"/>
              </a:rPr>
              <a:t>the next 100×</a:t>
            </a:r>
            <a:r>
              <a:rPr sz="3000" i="0">
                <a:solidFill>
                  <a:srgbClr val="EDECE6"/>
                </a:solidFill>
                <a:latin typeface="Georgia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5501487" cy="210312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EE7B7"/>
                </a:solidFill>
                <a:latin typeface="Helvetica Neue"/>
              </a:rPr>
              <a:t>PRICING · REVENUE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382"/>
                </a:solidFill>
                <a:latin typeface="Helvetica Neue"/>
              </a:rPr>
              <a:t>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7889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382"/>
                </a:solidFill>
                <a:latin typeface="Helvetica Neue"/>
              </a:rP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647" y="27889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B7382"/>
                </a:solidFill>
                <a:latin typeface="Helvetica Neue"/>
              </a:rPr>
              <a:t>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 Neue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063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3 projections /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647" y="3063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EE7B7"/>
                </a:solidFill>
                <a:latin typeface="Georgia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 Neue"/>
              </a:rPr>
              <a:t>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429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10 projections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647" y="3429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EE7B7"/>
                </a:solidFill>
                <a:latin typeface="Georgia"/>
              </a:rPr>
              <a:t>$8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947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 Neue"/>
              </a:rPr>
              <a:t>Strategist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794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Full ranked list + picks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47" y="37947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EE7B7"/>
                </a:solidFill>
                <a:latin typeface="Georgia"/>
              </a:rPr>
              <a:t>$29 / 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2240280"/>
            <a:ext cx="5501487" cy="210312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242316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UNIT ECONOMICS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2788920"/>
            <a:ext cx="36726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 Neue"/>
              </a:rPr>
              <a:t>Infra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8575" y="2788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6EE7B7"/>
                </a:solidFill>
                <a:latin typeface="Georgia"/>
              </a:rPr>
              <a:t>&lt;$50 /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8767" y="3154680"/>
            <a:ext cx="36726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 Neue"/>
              </a:rPr>
              <a:t>Per-user marginal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31546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6EE7B7"/>
                </a:solidFill>
                <a:latin typeface="Georgia"/>
              </a:rPr>
              <a:t>~$0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8767" y="3520440"/>
            <a:ext cx="36726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 Neue"/>
              </a:rPr>
              <a:t>Gross margin @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575" y="3520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6EE7B7"/>
                </a:solidFill>
                <a:latin typeface="Georgia"/>
              </a:rPr>
              <a:t>95%+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8767" y="3886200"/>
            <a:ext cx="36726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BA1B9"/>
                </a:solidFill>
                <a:latin typeface="Helvetica Neue"/>
              </a:rPr>
              <a:t>Capacity today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8575" y="38862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6EE7B7"/>
                </a:solidFill>
                <a:latin typeface="Georgia"/>
              </a:rPr>
              <a:t>10k+ users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572000"/>
            <a:ext cx="5501487" cy="1691640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6B73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5D58F"/>
                </a:solidFill>
                <a:latin typeface="Helvetica Neue"/>
              </a:rPr>
              <a:t>ROADMAP · NEXT 90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02920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DECE6"/>
                </a:solidFill>
                <a:latin typeface="Helvetica Neue"/>
              </a:rPr>
              <a:t>· Live pick scoreboard — weekly realised returns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30352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DECE6"/>
                </a:solidFill>
                <a:latin typeface="Helvetica Neue"/>
              </a:rPr>
              <a:t>· Options flow + earnings calendar as NN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7784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DECE6"/>
                </a:solidFill>
                <a:latin typeface="Helvetica Neue"/>
              </a:rPr>
              <a:t>· Short interest backfill — capital-commitment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85216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DECE6"/>
                </a:solidFill>
                <a:latin typeface="Helvetica Neue"/>
              </a:rPr>
              <a:t>· Portfolio-level 12-month simulation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7" y="4572000"/>
            <a:ext cx="5501487" cy="1691640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6B73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7327" y="470916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5D58F"/>
                </a:solidFill>
                <a:latin typeface="Helvetica Neue"/>
              </a:rPr>
              <a:t>RISKS · WHAT WE WATCH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8767" y="502920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 Neue"/>
              </a:rPr>
              <a:t>· Past backtest ≠ future guarantee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98767" y="530352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 Neue"/>
              </a:rPr>
              <a:t>· Regime shift killed crowd-sentiment in 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8767" y="557784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 Neue"/>
              </a:rPr>
              <a:t>· Russell 3000 scan: ~45 min, headroom to 90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8767" y="585216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BA1B9"/>
                </a:solidFill>
                <a:latin typeface="Helvetica Neue"/>
              </a:rPr>
              <a:t>· Fully systematic — no human overlay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51615" y="65653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2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