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FAAC5"/>
                </a:solidFill>
                <a:latin typeface="Helvetica"/>
              </a:rPr>
              <a:t>THE EDGE  ·  BACKTEST 2022-05  →  2024-08  ·  10 WALK-FORWARD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EDECE6"/>
                </a:solidFill>
                <a:latin typeface="Georgia"/>
              </a:rPr>
              <a:t>Our ranker picks </a:t>
            </a:r>
          </a:p>
          <a:p>
            <a:pPr algn="l">
              <a:lnSpc>
                <a:spcPct val="120000"/>
              </a:lnSpc>
            </a:pPr>
            <a:r>
              <a:rPr sz="3600" b="0" i="1">
                <a:solidFill>
                  <a:srgbClr val="5FAAC5"/>
                </a:solidFill>
                <a:latin typeface="Georgia"/>
              </a:rPr>
              <a:t>+100% movers at 11× the Russell 3000 baseline</a:t>
            </a:r>
          </a:p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"/>
              </a:rPr>
              <a:t>UNIVERSE BASELINE  ·  RANDOM TICKER, 1-YEAR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+10%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45.4%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19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+25%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19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30.2%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+50%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14.9%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91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4.95%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5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+200%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56615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1.45%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"/>
              </a:rPr>
              <a:t>OUR NN SCORER  ·  TOP-20 PICKS /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"/>
              </a:rPr>
              <a:t>Hit rate at +100%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55.0%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7614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"/>
              </a:rPr>
              <a:t>Lift vs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761487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11.11×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540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"/>
              </a:rPr>
              <a:t>Mean 1Y return on picks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05409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+327%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467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"/>
              </a:rPr>
              <a:t>Median 1Y return on picks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3467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+115%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"/>
              </a:rPr>
              <a:t>Hand-crafted baseline 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6393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EDECE6"/>
                </a:solidFill>
                <a:latin typeface="Georgia"/>
              </a:rPr>
              <a:t>2.02×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519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"/>
              </a:rPr>
              <a:t>HONEST METRICS  ·  SIZE-NEUTRAL  ·  OUT-OF-SAMPLE  ·  WITHIN-QUINTILE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Size-neutral hit_100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29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43.5%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not a small-cap tilt artifact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Within-quintile 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029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8.45×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median across 5 market-cap quintiles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2024 OOS hit_100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029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68.3%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year never seen by training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2024 OOS lift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029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13.03×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signal strengthens out-of-sample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82"/>
                </a:solidFill>
                <a:latin typeface="Helvetica"/>
              </a:rPr>
              <a:t>22,218 ticker-window rows  ·  Russell 3000 universe  ·  every pick logged in picks_history ledger for live tracking  ·  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FAAC5"/>
                </a:solidFill>
                <a:latin typeface="Helvetica"/>
              </a:rPr>
              <a:t>s-tool.io/track-record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FAAC5"/>
                </a:solidFill>
                <a:latin typeface="Helvetica"/>
              </a:rPr>
              <a:t>ARCHITECTURE  ·  NIGHTLY END-TO-END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EDECE6"/>
                </a:solidFill>
                <a:latin typeface="Georgia"/>
              </a:rPr>
              <a:t>The model retrains </a:t>
            </a:r>
          </a:p>
          <a:p>
            <a:pPr algn="l">
              <a:lnSpc>
                <a:spcPct val="120000"/>
              </a:lnSpc>
            </a:pPr>
            <a:r>
              <a:rPr sz="3600" b="0" i="1">
                <a:solidFill>
                  <a:srgbClr val="5FAAC5"/>
                </a:solidFill>
                <a:latin typeface="Georgia"/>
              </a:rPr>
              <a:t>every night</a:t>
            </a:r>
          </a:p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EDECE6"/>
                </a:solidFill>
                <a:latin typeface="Georgia"/>
              </a:rPr>
              <a:t> on freshly realised returns.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788920" cy="338328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788920" cy="457200"/>
          </a:xfrm>
          <a:prstGeom prst="roundRect">
            <a:avLst>
              <a:gd name="adj" fmla="val 15000"/>
            </a:avLst>
          </a:prstGeom>
          <a:solidFill>
            <a:srgbClr val="5FAA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Russell 3000 universe via iShares IWV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620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2,609 ticker price histories (yfinance, 5y+)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552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1,947 SEC EDGAR XBRL companies (98k quarterly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4845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FMP Premium analyst consensus + EPS revisions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FRED macro regime (6 indicators)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FinBERT sentiment on historical Reddit + StockTwits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920240"/>
            <a:ext cx="2788920" cy="338328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1920240"/>
            <a:ext cx="2788920" cy="457200"/>
          </a:xfrm>
          <a:prstGeom prst="roundRect">
            <a:avLst>
              <a:gd name="adj" fmla="val 15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0116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"/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Monte Carlo GBM + Ornstein-Uhlenbeck mean reversion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8620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30/70 MC↔MR blend tuned against realised returns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552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ExtraTreesRegressor NN scorer, walk-forward trained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64845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Size-neutral asymmetric bucketing (quintile-balanced)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$500K avg daily liquidity floor (filters penny stocks)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34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NN retraining nightly; HP search winner from v2 study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920240"/>
            <a:ext cx="2788920" cy="338328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F5D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920240"/>
            <a:ext cx="2788920" cy="457200"/>
          </a:xfrm>
          <a:prstGeom prst="roundRect">
            <a:avLst>
              <a:gd name="adj" fmla="val 15000"/>
            </a:avLst>
          </a:prstGeom>
          <a:solidFill>
            <a:srgbClr val="F5D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0116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"/>
              </a:rPr>
              <a:t>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Cloudflare Worker — 15KB HTML, edge-served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8620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FastAPI backend on Railway, Clerk auth, Stripe billing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552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Railway Volume — users DB persists across redeploys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64845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SQLite engine cache, WAL-mode, GitHub Actions cached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Gated Strategist tier → full ranked list + asymmetric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34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/track-record publishes the ledger for public auditing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1920240"/>
            <a:ext cx="2788920" cy="338328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D2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52560" y="1920240"/>
            <a:ext cx="2788920" cy="457200"/>
          </a:xfrm>
          <a:prstGeom prst="roundRect">
            <a:avLst>
              <a:gd name="adj" fmla="val 15000"/>
            </a:avLst>
          </a:prstGeom>
          <a:solidFill>
            <a:srgbClr val="D2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201168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"/>
              </a:rPr>
              <a:t>CI  · 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Fast path @ 20:00 UTC weekdays: 537-ticker preferred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8620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  universe scan + deploy, 30–45 min 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2552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Slow path @ 23:00 UTC: Russell 3000 long-tail 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64845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  NN training + honest backtest + feature ablation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0416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Both deploy Cloudflare + Railway on completion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4348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DECE6"/>
                </a:solidFill>
                <a:latin typeface="Helvetica"/>
              </a:rPr>
              <a:t>•  Every run's picks go into picks_history ledger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1F2722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5961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"/>
              </a:rPr>
              <a:t>THE FEEDBACK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today's market prints  →  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nightly realisation join  →  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walk-forward retrain  →  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"/>
              </a:rPr>
              <a:t>fresh ranking  →  </a:t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5FAAC5"/>
                </a:solidFill>
                <a:latin typeface="Helvetica"/>
              </a:rPr>
              <a:t>tomorrow's picks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382"/>
                </a:solidFill>
                <a:latin typeface="Helvetica"/>
              </a:rPr>
              <a:t>Static models decay.  We rebuild the model daily — it responds to regime shifts in under 24h.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FAAC5"/>
                </a:solidFill>
                <a:latin typeface="Helvetica"/>
              </a:rPr>
              <a:t>WHERE CAPITAL GOES  ·  2026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EDECE6"/>
                </a:solidFill>
                <a:latin typeface="Georgia"/>
              </a:rPr>
              <a:t>Real edge.  Honest surface.  Infra built for the </a:t>
            </a:r>
          </a:p>
          <a:p>
            <a:pPr algn="l">
              <a:lnSpc>
                <a:spcPct val="120000"/>
              </a:lnSpc>
            </a:pPr>
            <a:r>
              <a:rPr sz="3200" b="0" i="1">
                <a:solidFill>
                  <a:srgbClr val="5FAAC5"/>
                </a:solidFill>
                <a:latin typeface="Georgia"/>
              </a:rPr>
              <a:t>next 100× of users</a:t>
            </a:r>
          </a:p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EE7B7"/>
                </a:solidFill>
                <a:latin typeface="Helvetica"/>
              </a:rPr>
              <a:t>PRICING  ·  REVENUE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"/>
              </a:rP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23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231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"/>
              </a:rPr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3 projections /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EE7B7"/>
                </a:solidFill>
                <a:latin typeface="Georgia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08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10 projections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08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EE7B7"/>
                </a:solidFill>
                <a:latin typeface="Georgia"/>
              </a:rPr>
              <a:t>$8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"/>
              </a:rPr>
              <a:t>Strategist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full ranked list + asymmetric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20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EE7B7"/>
                </a:solidFill>
                <a:latin typeface="Georgia"/>
              </a:rPr>
              <a:t>$29 /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Stripe billing live  ·  Clerk auth  ·  paywall enforcement flagged; ready to switch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92024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"/>
              </a:rPr>
              <a:t>UNIT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68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Infra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&lt;$50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2491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all providers on free or low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71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Per-user marginal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~$0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2783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nightly compute is fixed, serving is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474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Gross margin @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95%+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307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subscription less Stripe fees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776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"/>
              </a:rPr>
              <a:t>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977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10k+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3367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"/>
              </a:rPr>
              <a:t>without architecture change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617720"/>
            <a:ext cx="11064240" cy="1965960"/>
          </a:xfrm>
          <a:prstGeom prst="roundRect">
            <a:avLst>
              <a:gd name="adj" fmla="val 5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"/>
              </a:rPr>
              <a:t>ROADMAP  ·  NEXT 90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749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"/>
              </a:rPr>
              <a:t>•  Live pick scoreboard: weekly realised returns, public, unedited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30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"/>
              </a:rPr>
              <a:t>•  Options flow (Polygon) + earnings calendar (Finnhub) as new NN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869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"/>
              </a:rPr>
              <a:t>•  FINRA short interest historical backfill — capital-commitment 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4301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"/>
              </a:rPr>
              <a:t>•  Portfolio-level backtest: simulate a user following the picks for 12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4754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"/>
              </a:rPr>
              <a:t>RISKS  ·  WHAT WE WATCH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9" y="5074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•  Past backtest not a future guarantee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9" y="533095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•  Regime shift killed crowd-sentiment in 2023 — flagged + removed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9" y="55869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•  Russell 3000 scan budget: ~45 min / day — headroom to 90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58430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"/>
              </a:rPr>
              <a:t>•  No human discretion overlay — fully systematic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